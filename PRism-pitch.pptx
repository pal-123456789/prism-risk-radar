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Risk score</c:v>
                </c:pt>
              </c:strCache>
            </c:strRef>
          </c:tx>
          <c:spPr>
            <a:solidFill>
              <a:srgbClr val="F055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E9EDF4"/>
                    </a:solidFill>
                    <a:latin typeface="Courier Ne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0555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0555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0555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0863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7C34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AC78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Leaked credentials</c:v>
                  </c:pt>
                  <c:pt idx="1">
                    <c:v>Risky feature</c:v>
                  </c:pt>
                  <c:pt idx="2">
                    <c:v>Trojan source</c:v>
                  </c:pt>
                  <c:pt idx="3">
                    <c:v>Tests dropped</c:v>
                  </c:pt>
                  <c:pt idx="4">
                    <c:v>Large refactor</c:v>
                  </c:pt>
                  <c:pt idx="5">
                    <c:v>Clean change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98</c:v>
                </c:pt>
                <c:pt idx="1">
                  <c:v>84</c:v>
                </c:pt>
                <c:pt idx="2">
                  <c:v>82</c:v>
                </c:pt>
                <c:pt idx="3">
                  <c:v>61</c:v>
                </c:pt>
                <c:pt idx="4">
                  <c:v>52</c:v>
                </c:pt>
                <c:pt idx="5">
                  <c:v>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E9EDF4"/>
                  </a:solidFill>
                  <a:latin typeface="Courier New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C2C9D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PRism scores how risky a pull request is — and never sees your code. One paste, instant score, and it runs 100% in the browser. That last part is the whole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Reviewers are human and attention is finite. And every tool that helps wants to upload your code to a cloud. PRism gives the same help without ever seeing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paste. Risk 98, Critical. It found a live Stripe key, an AWS key, a committed .env, and debug mode on — each with a CWE and the exact line. The number is built from visible signals, not a guess.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DevTools Network tab, reload — nothing. Every cloud tool has to upload your source. PRism can't: the deploy ships a CSP that forbids reaching any other server, and the app makes zero requests anyway.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Cloud bots see the whole diff but upload it. Linters stay local but need your repo and toolchain. PRism is the only one that does full-diff review, explains every flag with a CWE, and runs the same engine in a human GUI and a headless CI gate — all without the code leaving.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Parse the diff, tokenize to mask strings and comments, run 47 CWE-tagged rules plus entropy secret detection, then roll it into an explainable score waterfall. Pure and deterministic — same diff, same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It's not a dumb regex. eval in a comment stays silent; eval on user input fires as CWE-95. That tokenizer is why the flags are trustworthy instead of noise.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Fully real. npm test runs the engine plus an end-to-end CLI suite — 156 checks — wired to CI on three Node versions. 47 rules, 16 categories, and zero network calls, 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live outputs. Leaked credentials 98, risky feature 84, trojan source 82 — all Critical. Tests dropped 61, High. Large refactor 52, Moderate. Clean change 22, Low. The spectrum is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Export as SARIF and it uploads to GitHub code scanning like any server scanner. And the same engine runs headless: pipe a diff, get an exit code; the bundled Action blocks a merge on policy. Open index.html and it runs; pipe a diff and it gates.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Then export the report as Markdown for the PR, or SARIF for code scanning, and the same engine gates CI. That's PRism: a code-review radar for the code you can't send to anyone.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2468880"/>
            <a:ext cx="2103120" cy="1828800"/>
          </a:xfrm>
          <a:prstGeom prst="triangle">
            <a:avLst/>
          </a:prstGeom>
          <a:solidFill>
            <a:srgbClr val="161C28"/>
          </a:solidFill>
          <a:ln w="28575">
            <a:solidFill>
              <a:srgbClr val="F2B3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3886200"/>
            <a:ext cx="914400" cy="91440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3520440"/>
            <a:ext cx="914400" cy="914400"/>
          </a:xfrm>
          <a:prstGeom prst="line">
            <a:avLst/>
          </a:prstGeom>
          <a:noFill/>
          <a:ln w="28575">
            <a:solidFill>
              <a:srgbClr val="3AC7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3520440"/>
            <a:ext cx="914400" cy="914400"/>
          </a:xfrm>
          <a:prstGeom prst="line">
            <a:avLst/>
          </a:prstGeom>
          <a:noFill/>
          <a:ln w="28575">
            <a:solidFill>
              <a:srgbClr val="E7C3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0" y="3520440"/>
            <a:ext cx="914400" cy="914400"/>
          </a:xfrm>
          <a:prstGeom prst="line">
            <a:avLst/>
          </a:prstGeom>
          <a:noFill/>
          <a:ln w="28575">
            <a:solidFill>
              <a:srgbClr val="F086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3520440"/>
            <a:ext cx="914400" cy="914400"/>
          </a:xfrm>
          <a:prstGeom prst="line">
            <a:avLst/>
          </a:prstGeom>
          <a:noFill/>
          <a:ln w="28575">
            <a:solidFill>
              <a:srgbClr val="F05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3520440"/>
            <a:ext cx="914400" cy="914400"/>
          </a:xfrm>
          <a:prstGeom prst="line">
            <a:avLst/>
          </a:prstGeom>
          <a:noFill/>
          <a:ln w="28575">
            <a:solidFill>
              <a:srgbClr val="6C93C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0" y="214884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</a:t>
            </a:r>
            <a:endParaRPr lang="en-US" sz="7200" dirty="0"/>
          </a:p>
        </p:txBody>
      </p:sp>
      <p:sp>
        <p:nvSpPr>
          <p:cNvPr id="10" name="Text 8"/>
          <p:cNvSpPr txBox="1"/>
          <p:nvPr/>
        </p:nvSpPr>
        <p:spPr>
          <a:xfrm>
            <a:off x="5971032" y="329184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pull-request risk radar that never sees your code.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5971032" y="42519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2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git diff → an explainable 0–100 risk score, in the browser. Offline. Private by architecture.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971032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79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Hack Devengers 2.0  ·  Open Innovation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10896" cy="310896"/>
          </a:xfrm>
          <a:prstGeom prst="triangle">
            <a:avLst/>
          </a:prstGeom>
          <a:ln w="19050">
            <a:solidFill>
              <a:srgbClr val="F2B3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97280" y="6035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B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430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is the last line of defense.</a:t>
            </a:r>
            <a:endParaRPr lang="en-US" sz="3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dangerous lines hide in the boring ones.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3502152" cy="2468880"/>
          </a:xfrm>
          <a:prstGeom prst="roundRect">
            <a:avLst>
              <a:gd name="adj" fmla="val 2963"/>
            </a:avLst>
          </a:prstGeom>
          <a:solidFill>
            <a:srgbClr val="161C28"/>
          </a:solidFill>
          <a:ln w="12700">
            <a:solidFill>
              <a:srgbClr val="2B35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3511296"/>
            <a:ext cx="201168" cy="201168"/>
          </a:xfrm>
          <a:prstGeom prst="ellipse">
            <a:avLst/>
          </a:prstGeom>
          <a:solidFill>
            <a:srgbClr val="F0863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80160" y="3438144"/>
            <a:ext cx="2587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is finite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4023360"/>
            <a:ext cx="2916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C2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400-line PR, the three lines that leak a key or open an injection sink look just like the other 397.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62272" y="3200400"/>
            <a:ext cx="3502152" cy="2468880"/>
          </a:xfrm>
          <a:prstGeom prst="roundRect">
            <a:avLst>
              <a:gd name="adj" fmla="val 2963"/>
            </a:avLst>
          </a:prstGeom>
          <a:solidFill>
            <a:srgbClr val="161C28"/>
          </a:solidFill>
          <a:ln w="12700">
            <a:solidFill>
              <a:srgbClr val="2B35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3511296"/>
            <a:ext cx="201168" cy="201168"/>
          </a:xfrm>
          <a:prstGeom prst="ellipse">
            <a:avLst/>
          </a:prstGeom>
          <a:solidFill>
            <a:srgbClr val="F0555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02352" y="3438144"/>
            <a:ext cx="2587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that help, upload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4023360"/>
            <a:ext cx="2916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C2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serious automated reviewer is cloud-first and repo-integrated — which means your source leaves the building.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84464" y="3200400"/>
            <a:ext cx="3502152" cy="2468880"/>
          </a:xfrm>
          <a:prstGeom prst="roundRect">
            <a:avLst>
              <a:gd name="adj" fmla="val 2963"/>
            </a:avLst>
          </a:prstGeom>
          <a:solidFill>
            <a:srgbClr val="161C28"/>
          </a:solidFill>
          <a:ln w="12700">
            <a:solidFill>
              <a:srgbClr val="2B354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77072" y="3511296"/>
            <a:ext cx="201168" cy="201168"/>
          </a:xfrm>
          <a:prstGeom prst="ellipse">
            <a:avLst/>
          </a:prstGeom>
          <a:solidFill>
            <a:srgbClr val="6C93C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24544" y="3438144"/>
            <a:ext cx="2587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risky diffs go unread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577072" y="4023360"/>
            <a:ext cx="2916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C2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either slow down, or wave changes through. Neither is a real safety net.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0582351" y="6400800"/>
            <a:ext cx="137160" cy="137160"/>
          </a:xfrm>
          <a:prstGeom prst="ellipse">
            <a:avLst/>
          </a:prstGeom>
          <a:solidFill>
            <a:srgbClr val="3AC78A"/>
          </a:solidFill>
          <a:ln/>
        </p:spPr>
      </p:sp>
      <p:sp>
        <p:nvSpPr>
          <p:cNvPr id="18" name="Shape 16"/>
          <p:cNvSpPr/>
          <p:nvPr/>
        </p:nvSpPr>
        <p:spPr>
          <a:xfrm>
            <a:off x="10820095" y="6400800"/>
            <a:ext cx="137160" cy="137160"/>
          </a:xfrm>
          <a:prstGeom prst="ellipse">
            <a:avLst/>
          </a:prstGeom>
          <a:solidFill>
            <a:srgbClr val="E7C34B"/>
          </a:solidFill>
          <a:ln/>
        </p:spPr>
      </p:sp>
      <p:sp>
        <p:nvSpPr>
          <p:cNvPr id="19" name="Shape 17"/>
          <p:cNvSpPr/>
          <p:nvPr/>
        </p:nvSpPr>
        <p:spPr>
          <a:xfrm>
            <a:off x="11057839" y="6400800"/>
            <a:ext cx="137160" cy="137160"/>
          </a:xfrm>
          <a:prstGeom prst="ellipse">
            <a:avLst/>
          </a:prstGeom>
          <a:solidFill>
            <a:srgbClr val="F0863C"/>
          </a:solidFill>
          <a:ln/>
        </p:spPr>
      </p:sp>
      <p:sp>
        <p:nvSpPr>
          <p:cNvPr id="20" name="Shape 18"/>
          <p:cNvSpPr/>
          <p:nvPr/>
        </p:nvSpPr>
        <p:spPr>
          <a:xfrm>
            <a:off x="11295583" y="6400800"/>
            <a:ext cx="137160" cy="137160"/>
          </a:xfrm>
          <a:prstGeom prst="ellipse">
            <a:avLst/>
          </a:prstGeom>
          <a:solidFill>
            <a:srgbClr val="F0555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1094415" y="63459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3459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79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PRism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10896" cy="310896"/>
          </a:xfrm>
          <a:prstGeom prst="triangle">
            <a:avLst/>
          </a:prstGeom>
          <a:ln w="19050">
            <a:solidFill>
              <a:srgbClr val="F2B3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97280" y="6035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B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430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diff. Get one number — fully explained.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6888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 score from 0 to 100, plus a tier.</a:t>
            </a:r>
            <a:endParaRPr lang="en-US" sz="16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C2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signal is tagged with a CWE, a plain-English reason, a fix, and a confidence — pinned to the exact line that tripped it.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2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 is an auditable waterfall, never a black box.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720840" y="2331720"/>
            <a:ext cx="4800600" cy="3566160"/>
          </a:xfrm>
          <a:prstGeom prst="roundRect">
            <a:avLst>
              <a:gd name="adj" fmla="val 2051"/>
            </a:avLst>
          </a:prstGeom>
          <a:solidFill>
            <a:srgbClr val="161C28"/>
          </a:solidFill>
          <a:ln w="12700">
            <a:solidFill>
              <a:srgbClr val="2B354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95160" y="25603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0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</a:t>
            </a:r>
            <a:endParaRPr lang="en-US" sz="6600" dirty="0"/>
          </a:p>
        </p:txBody>
      </p:sp>
      <p:sp>
        <p:nvSpPr>
          <p:cNvPr id="8" name="Text 6"/>
          <p:cNvSpPr txBox="1"/>
          <p:nvPr/>
        </p:nvSpPr>
        <p:spPr>
          <a:xfrm>
            <a:off x="8686800" y="2971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05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705088" y="33009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Leaked credentials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013448" y="3886200"/>
            <a:ext cx="146304" cy="146304"/>
          </a:xfrm>
          <a:prstGeom prst="ellipse">
            <a:avLst/>
          </a:prstGeom>
          <a:solidFill>
            <a:srgbClr val="F0555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269480" y="38404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Stripe secret key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104120" y="3840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79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CWE-798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13448" y="4370832"/>
            <a:ext cx="146304" cy="146304"/>
          </a:xfrm>
          <a:prstGeom prst="ellipse">
            <a:avLst/>
          </a:prstGeom>
          <a:solidFill>
            <a:srgbClr val="F0555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269480" y="43251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access key ID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104120" y="43251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79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CWE-798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13448" y="4855464"/>
            <a:ext cx="146304" cy="146304"/>
          </a:xfrm>
          <a:prstGeom prst="ellipse">
            <a:avLst/>
          </a:prstGeom>
          <a:solidFill>
            <a:srgbClr val="F0863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269480" y="48097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.env file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104120" y="48097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79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CWE-540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13448" y="5340096"/>
            <a:ext cx="146304" cy="146304"/>
          </a:xfrm>
          <a:prstGeom prst="ellipse">
            <a:avLst/>
          </a:prstGeom>
          <a:solidFill>
            <a:srgbClr val="E7C34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269480" y="52943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mode left on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104120" y="52943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79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CWE-489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582351" y="6400800"/>
            <a:ext cx="137160" cy="137160"/>
          </a:xfrm>
          <a:prstGeom prst="ellipse">
            <a:avLst/>
          </a:prstGeom>
          <a:solidFill>
            <a:srgbClr val="3AC78A"/>
          </a:solidFill>
          <a:ln/>
        </p:spPr>
      </p:sp>
      <p:sp>
        <p:nvSpPr>
          <p:cNvPr id="23" name="Shape 21"/>
          <p:cNvSpPr/>
          <p:nvPr/>
        </p:nvSpPr>
        <p:spPr>
          <a:xfrm>
            <a:off x="10820095" y="6400800"/>
            <a:ext cx="137160" cy="137160"/>
          </a:xfrm>
          <a:prstGeom prst="ellipse">
            <a:avLst/>
          </a:prstGeom>
          <a:solidFill>
            <a:srgbClr val="E7C34B"/>
          </a:solidFill>
          <a:ln/>
        </p:spPr>
      </p:sp>
      <p:sp>
        <p:nvSpPr>
          <p:cNvPr id="24" name="Shape 22"/>
          <p:cNvSpPr/>
          <p:nvPr/>
        </p:nvSpPr>
        <p:spPr>
          <a:xfrm>
            <a:off x="11057839" y="6400800"/>
            <a:ext cx="137160" cy="137160"/>
          </a:xfrm>
          <a:prstGeom prst="ellipse">
            <a:avLst/>
          </a:prstGeom>
          <a:solidFill>
            <a:srgbClr val="F0863C"/>
          </a:solidFill>
          <a:ln/>
        </p:spPr>
      </p:sp>
      <p:sp>
        <p:nvSpPr>
          <p:cNvPr id="25" name="Shape 23"/>
          <p:cNvSpPr/>
          <p:nvPr/>
        </p:nvSpPr>
        <p:spPr>
          <a:xfrm>
            <a:off x="11295583" y="6400800"/>
            <a:ext cx="137160" cy="137160"/>
          </a:xfrm>
          <a:prstGeom prst="ellipse">
            <a:avLst/>
          </a:prstGeom>
          <a:solidFill>
            <a:srgbClr val="F0555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1094415" y="63459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63459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79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PRism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10896" cy="310896"/>
          </a:xfrm>
          <a:prstGeom prst="triangle">
            <a:avLst/>
          </a:prstGeom>
          <a:ln w="19050">
            <a:solidFill>
              <a:srgbClr val="F2B3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97280" y="6035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B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IT'S DIFFERENT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 never leaves your tab.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574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2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upload. No account. No API key. Pull the network cable and it still works — privacy isn't a setting here, it's the architecture.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004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676656" y="41605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2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calls the app makes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32004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'self'</a:t>
            </a:r>
            <a:endParaRPr lang="en-US" sz="5200" dirty="0"/>
          </a:p>
        </p:txBody>
      </p:sp>
      <p:sp>
        <p:nvSpPr>
          <p:cNvPr id="9" name="Text 7"/>
          <p:cNvSpPr txBox="1"/>
          <p:nvPr/>
        </p:nvSpPr>
        <p:spPr>
          <a:xfrm>
            <a:off x="4334256" y="41605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2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connect-src — no third-party origin reachable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32004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5200" dirty="0"/>
          </a:p>
        </p:txBody>
      </p:sp>
      <p:sp>
        <p:nvSpPr>
          <p:cNvPr id="11" name="Text 9"/>
          <p:cNvSpPr txBox="1"/>
          <p:nvPr/>
        </p:nvSpPr>
        <p:spPr>
          <a:xfrm>
            <a:off x="7991856" y="41605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2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in-browser — deterministic, reproducible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5321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reviewer would mean sending code to a server — the exact thing we refuse. Local + deterministic is what makes the privacy promise real.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582351" y="6400800"/>
            <a:ext cx="137160" cy="137160"/>
          </a:xfrm>
          <a:prstGeom prst="ellipse">
            <a:avLst/>
          </a:prstGeom>
          <a:solidFill>
            <a:srgbClr val="3AC78A"/>
          </a:solidFill>
          <a:ln/>
        </p:spPr>
      </p:sp>
      <p:sp>
        <p:nvSpPr>
          <p:cNvPr id="14" name="Shape 12"/>
          <p:cNvSpPr/>
          <p:nvPr/>
        </p:nvSpPr>
        <p:spPr>
          <a:xfrm>
            <a:off x="10820095" y="6400800"/>
            <a:ext cx="137160" cy="137160"/>
          </a:xfrm>
          <a:prstGeom prst="ellipse">
            <a:avLst/>
          </a:prstGeom>
          <a:solidFill>
            <a:srgbClr val="E7C34B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57839" y="6400800"/>
            <a:ext cx="137160" cy="137160"/>
          </a:xfrm>
          <a:prstGeom prst="ellipse">
            <a:avLst/>
          </a:prstGeom>
          <a:solidFill>
            <a:srgbClr val="F0863C"/>
          </a:solidFill>
          <a:ln/>
        </p:spPr>
      </p:sp>
      <p:sp>
        <p:nvSpPr>
          <p:cNvPr id="16" name="Shape 14"/>
          <p:cNvSpPr/>
          <p:nvPr/>
        </p:nvSpPr>
        <p:spPr>
          <a:xfrm>
            <a:off x="11295583" y="6400800"/>
            <a:ext cx="137160" cy="137160"/>
          </a:xfrm>
          <a:prstGeom prst="ellipse">
            <a:avLst/>
          </a:prstGeom>
          <a:solidFill>
            <a:srgbClr val="F0555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094415" y="63459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3459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79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PRism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10896" cy="310896"/>
          </a:xfrm>
          <a:prstGeom prst="triangle">
            <a:avLst/>
          </a:prstGeom>
          <a:ln w="19050">
            <a:solidFill>
              <a:srgbClr val="F2B3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97280" y="6035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B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IT SITS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430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 for a human and for CI — without the code leaving.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418320" y="2286000"/>
            <a:ext cx="1783080" cy="3840480"/>
          </a:xfrm>
          <a:prstGeom prst="roundRect">
            <a:avLst>
              <a:gd name="adj" fmla="val 3077"/>
            </a:avLst>
          </a:prstGeom>
          <a:solidFill>
            <a:srgbClr val="1D243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3317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23317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bots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635240" y="23317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linters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418320" y="23317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8803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2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a full PR diff at once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28803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AC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635240" y="28803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0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9418320" y="28803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AC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3429000"/>
            <a:ext cx="8778240" cy="548640"/>
          </a:xfrm>
          <a:prstGeom prst="rect">
            <a:avLst/>
          </a:prstGeom>
          <a:solidFill>
            <a:srgbClr val="161C2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4290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2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repo integration needed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852160" y="34290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0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635240" y="34290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7C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418320" y="34290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AC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39776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2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never leaves the machine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852160" y="39776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0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7635240" y="39776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AC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418320" y="39776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AC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40080" y="4526280"/>
            <a:ext cx="8778240" cy="548640"/>
          </a:xfrm>
          <a:prstGeom prst="rect">
            <a:avLst/>
          </a:prstGeom>
          <a:solidFill>
            <a:srgbClr val="161C2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1520" y="45262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2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 / air-gapped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5852160" y="45262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0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635240" y="45262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7C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9418320" y="45262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AC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50749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2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why, line by line, with a CWE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5852160" y="50749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7C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7635240" y="50749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7C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9418320" y="50749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AC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640080" y="5623560"/>
            <a:ext cx="8778240" cy="548640"/>
          </a:xfrm>
          <a:prstGeom prst="rect">
            <a:avLst/>
          </a:prstGeom>
          <a:solidFill>
            <a:srgbClr val="161C2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31520" y="56235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2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engine: GUI and headless CI gate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5852160" y="56235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0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7635240" y="56235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0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700" dirty="0"/>
          </a:p>
        </p:txBody>
      </p:sp>
      <p:sp>
        <p:nvSpPr>
          <p:cNvPr id="36" name="Text 34"/>
          <p:cNvSpPr txBox="1"/>
          <p:nvPr/>
        </p:nvSpPr>
        <p:spPr>
          <a:xfrm>
            <a:off x="9418320" y="56235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AC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10582351" y="6400800"/>
            <a:ext cx="137160" cy="137160"/>
          </a:xfrm>
          <a:prstGeom prst="ellipse">
            <a:avLst/>
          </a:prstGeom>
          <a:solidFill>
            <a:srgbClr val="3AC78A"/>
          </a:solidFill>
          <a:ln/>
        </p:spPr>
      </p:sp>
      <p:sp>
        <p:nvSpPr>
          <p:cNvPr id="38" name="Shape 36"/>
          <p:cNvSpPr/>
          <p:nvPr/>
        </p:nvSpPr>
        <p:spPr>
          <a:xfrm>
            <a:off x="10820095" y="6400800"/>
            <a:ext cx="137160" cy="137160"/>
          </a:xfrm>
          <a:prstGeom prst="ellipse">
            <a:avLst/>
          </a:prstGeom>
          <a:solidFill>
            <a:srgbClr val="E7C34B"/>
          </a:solidFill>
          <a:ln/>
        </p:spPr>
      </p:sp>
      <p:sp>
        <p:nvSpPr>
          <p:cNvPr id="39" name="Shape 37"/>
          <p:cNvSpPr/>
          <p:nvPr/>
        </p:nvSpPr>
        <p:spPr>
          <a:xfrm>
            <a:off x="11057839" y="6400800"/>
            <a:ext cx="137160" cy="137160"/>
          </a:xfrm>
          <a:prstGeom prst="ellipse">
            <a:avLst/>
          </a:prstGeom>
          <a:solidFill>
            <a:srgbClr val="F0863C"/>
          </a:solidFill>
          <a:ln/>
        </p:spPr>
      </p:sp>
      <p:sp>
        <p:nvSpPr>
          <p:cNvPr id="40" name="Shape 38"/>
          <p:cNvSpPr/>
          <p:nvPr/>
        </p:nvSpPr>
        <p:spPr>
          <a:xfrm>
            <a:off x="11295583" y="6400800"/>
            <a:ext cx="137160" cy="137160"/>
          </a:xfrm>
          <a:prstGeom prst="ellipse">
            <a:avLst/>
          </a:prstGeom>
          <a:solidFill>
            <a:srgbClr val="F0555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11094415" y="63459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640080" y="63459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79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PRism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10896" cy="310896"/>
          </a:xfrm>
          <a:prstGeom prst="triangle">
            <a:avLst/>
          </a:prstGeom>
          <a:ln w="19050">
            <a:solidFill>
              <a:srgbClr val="F2B3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97280" y="6035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B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430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static-analysis pipeline, in a browser tab.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161C28"/>
          </a:solidFill>
          <a:ln w="12700">
            <a:solidFill>
              <a:srgbClr val="2B35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271576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C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35584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C9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64845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50" b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change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2976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C2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unified-diff parser turns the paste into files, hunks and added lines — combined merge diffs included.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227832" y="388620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520440" y="251460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161C28"/>
          </a:solidFill>
          <a:ln w="12700">
            <a:solidFill>
              <a:srgbClr val="2B354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76472" y="271576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C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3794760" y="335584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AC7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TOKENIZE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794760" y="364845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50" b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strings &amp; comments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3794760" y="42976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C2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per-language tokenizer hides text, so rules match real code — not the word eval in a comment.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108192" y="388620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0" y="251460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161C28"/>
          </a:solidFill>
          <a:ln w="12700">
            <a:solidFill>
              <a:srgbClr val="2B354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56832" y="271576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8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335584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8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364845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50" b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CWE-tagged rules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42976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C2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rules plus a Shannon-entropy secret detector, each with a reason, a fix and a confidence.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988552" y="388620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281160" y="251460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161C28"/>
          </a:solidFill>
          <a:ln w="12700">
            <a:solidFill>
              <a:srgbClr val="2B354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537192" y="271576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9555480" y="335584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B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555480" y="364845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50" b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waterfall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9555480" y="42976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C2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become an auditable score you can watch add up, with a per-file risk breakdown.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582351" y="6400800"/>
            <a:ext cx="137160" cy="137160"/>
          </a:xfrm>
          <a:prstGeom prst="ellipse">
            <a:avLst/>
          </a:prstGeom>
          <a:solidFill>
            <a:srgbClr val="3AC78A"/>
          </a:solidFill>
          <a:ln/>
        </p:spPr>
      </p:sp>
      <p:sp>
        <p:nvSpPr>
          <p:cNvPr id="29" name="Shape 27"/>
          <p:cNvSpPr/>
          <p:nvPr/>
        </p:nvSpPr>
        <p:spPr>
          <a:xfrm>
            <a:off x="10820095" y="6400800"/>
            <a:ext cx="137160" cy="137160"/>
          </a:xfrm>
          <a:prstGeom prst="ellipse">
            <a:avLst/>
          </a:prstGeom>
          <a:solidFill>
            <a:srgbClr val="E7C34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057839" y="6400800"/>
            <a:ext cx="137160" cy="137160"/>
          </a:xfrm>
          <a:prstGeom prst="ellipse">
            <a:avLst/>
          </a:prstGeom>
          <a:solidFill>
            <a:srgbClr val="F0863C"/>
          </a:solidFill>
          <a:ln/>
        </p:spPr>
      </p:sp>
      <p:sp>
        <p:nvSpPr>
          <p:cNvPr id="31" name="Shape 29"/>
          <p:cNvSpPr/>
          <p:nvPr/>
        </p:nvSpPr>
        <p:spPr>
          <a:xfrm>
            <a:off x="11295583" y="6400800"/>
            <a:ext cx="137160" cy="137160"/>
          </a:xfrm>
          <a:prstGeom prst="ellipse">
            <a:avLst/>
          </a:prstGeom>
          <a:solidFill>
            <a:srgbClr val="F0555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1094415" y="63459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63459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79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PRism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10896" cy="310896"/>
          </a:xfrm>
          <a:prstGeom prst="triangle">
            <a:avLst/>
          </a:prstGeom>
          <a:ln w="19050">
            <a:solidFill>
              <a:srgbClr val="F2B3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97280" y="6035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B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YOU CAN TRUST THE FLAGS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code like a reviewer — not a regex.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161C28"/>
          </a:solidFill>
          <a:ln w="12700">
            <a:solidFill>
              <a:srgbClr val="2B35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9260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79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disable eval here later
</a:t>
            </a:r>
            <a:pPr indent="0" marL="0">
              <a:buNone/>
            </a:pPr>
            <a:r>
              <a:rPr lang="en-US" sz="1500" dirty="0">
                <a:solidFill>
                  <a:srgbClr val="879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const r = eval(expr)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60120" y="4142232"/>
            <a:ext cx="164592" cy="164592"/>
          </a:xfrm>
          <a:prstGeom prst="ellipse">
            <a:avLst/>
          </a:prstGeom>
          <a:solidFill>
            <a:srgbClr val="3AC78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07008" y="40690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C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— eval in a comment is not code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251460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161C28"/>
          </a:solidFill>
          <a:ln w="15875">
            <a:solidFill>
              <a:srgbClr val="F055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37960" y="29260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2C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out = </a:t>
            </a:r>
            <a:pPr indent="0" marL="0">
              <a:buNone/>
            </a:pPr>
            <a:r>
              <a:rPr lang="en-US" sz="1500" b="1" dirty="0">
                <a:solidFill>
                  <a:srgbClr val="F05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</a:t>
            </a:r>
            <a:pPr indent="0" marL="0">
              <a:buNone/>
            </a:pPr>
            <a:r>
              <a:rPr lang="en-US" sz="1500" dirty="0">
                <a:solidFill>
                  <a:srgbClr val="C2C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(userInput);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37960" y="4142232"/>
            <a:ext cx="164592" cy="164592"/>
          </a:xfrm>
          <a:prstGeom prst="ellipse">
            <a:avLst/>
          </a:prstGeom>
          <a:solidFill>
            <a:srgbClr val="F0555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84848" y="40690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— code injection, CWE-95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2120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2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language-aware tokenizer masks strings and comments before the rules run. That's the difference between a radar you trust and false positives you learn to ignore.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582351" y="6400800"/>
            <a:ext cx="137160" cy="137160"/>
          </a:xfrm>
          <a:prstGeom prst="ellipse">
            <a:avLst/>
          </a:prstGeom>
          <a:solidFill>
            <a:srgbClr val="3AC78A"/>
          </a:solidFill>
          <a:ln/>
        </p:spPr>
      </p:sp>
      <p:sp>
        <p:nvSpPr>
          <p:cNvPr id="15" name="Shape 13"/>
          <p:cNvSpPr/>
          <p:nvPr/>
        </p:nvSpPr>
        <p:spPr>
          <a:xfrm>
            <a:off x="10820095" y="6400800"/>
            <a:ext cx="137160" cy="137160"/>
          </a:xfrm>
          <a:prstGeom prst="ellipse">
            <a:avLst/>
          </a:prstGeom>
          <a:solidFill>
            <a:srgbClr val="E7C34B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57839" y="6400800"/>
            <a:ext cx="137160" cy="137160"/>
          </a:xfrm>
          <a:prstGeom prst="ellipse">
            <a:avLst/>
          </a:prstGeom>
          <a:solidFill>
            <a:srgbClr val="F0863C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95583" y="6400800"/>
            <a:ext cx="137160" cy="137160"/>
          </a:xfrm>
          <a:prstGeom prst="ellipse">
            <a:avLst/>
          </a:prstGeom>
          <a:solidFill>
            <a:srgbClr val="F0555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1094415" y="63459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3459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79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PRism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10896" cy="310896"/>
          </a:xfrm>
          <a:prstGeom prst="triangle">
            <a:avLst/>
          </a:prstGeom>
          <a:ln w="19050">
            <a:solidFill>
              <a:srgbClr val="F2B3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97280" y="6035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B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PROOF, NOT PROMISES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430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real, and it's tested.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161C28"/>
          </a:solidFill>
          <a:ln w="12700">
            <a:solidFill>
              <a:srgbClr val="2B35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0632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14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2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CWE-tagged rules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20440" y="265176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161C28"/>
          </a:solidFill>
          <a:ln w="12700">
            <a:solidFill>
              <a:srgbClr val="2B35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30632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6C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4114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2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categories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65176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161C28"/>
          </a:solidFill>
          <a:ln w="12700">
            <a:solidFill>
              <a:srgbClr val="2B354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30632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C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4114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2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green in CI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281160" y="265176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161C28"/>
          </a:solidFill>
          <a:ln w="12700">
            <a:solidFill>
              <a:srgbClr val="2B354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81160" y="30632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05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000" dirty="0"/>
          </a:p>
        </p:txBody>
      </p:sp>
      <p:sp>
        <p:nvSpPr>
          <p:cNvPr id="16" name="Text 14"/>
          <p:cNvSpPr txBox="1"/>
          <p:nvPr/>
        </p:nvSpPr>
        <p:spPr>
          <a:xfrm>
            <a:off x="9464040" y="4114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2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calls, ever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2578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test harness runs the engine + an end-to-end CLI suite; wired to CI on Node 18, 20 and 22. Try it with your own git diff.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582351" y="6400800"/>
            <a:ext cx="137160" cy="137160"/>
          </a:xfrm>
          <a:prstGeom prst="ellipse">
            <a:avLst/>
          </a:prstGeom>
          <a:solidFill>
            <a:srgbClr val="3AC78A"/>
          </a:solidFill>
          <a:ln/>
        </p:spPr>
      </p:sp>
      <p:sp>
        <p:nvSpPr>
          <p:cNvPr id="19" name="Shape 17"/>
          <p:cNvSpPr/>
          <p:nvPr/>
        </p:nvSpPr>
        <p:spPr>
          <a:xfrm>
            <a:off x="10820095" y="6400800"/>
            <a:ext cx="137160" cy="137160"/>
          </a:xfrm>
          <a:prstGeom prst="ellipse">
            <a:avLst/>
          </a:prstGeom>
          <a:solidFill>
            <a:srgbClr val="E7C34B"/>
          </a:solidFill>
          <a:ln/>
        </p:spPr>
      </p:sp>
      <p:sp>
        <p:nvSpPr>
          <p:cNvPr id="20" name="Shape 18"/>
          <p:cNvSpPr/>
          <p:nvPr/>
        </p:nvSpPr>
        <p:spPr>
          <a:xfrm>
            <a:off x="11057839" y="6400800"/>
            <a:ext cx="137160" cy="137160"/>
          </a:xfrm>
          <a:prstGeom prst="ellipse">
            <a:avLst/>
          </a:prstGeom>
          <a:solidFill>
            <a:srgbClr val="F0863C"/>
          </a:solidFill>
          <a:ln/>
        </p:spPr>
      </p:sp>
      <p:sp>
        <p:nvSpPr>
          <p:cNvPr id="21" name="Shape 19"/>
          <p:cNvSpPr/>
          <p:nvPr/>
        </p:nvSpPr>
        <p:spPr>
          <a:xfrm>
            <a:off x="11295583" y="6400800"/>
            <a:ext cx="137160" cy="137160"/>
          </a:xfrm>
          <a:prstGeom prst="ellipse">
            <a:avLst/>
          </a:prstGeom>
          <a:solidFill>
            <a:srgbClr val="F0555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1094415" y="63459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63459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79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PRism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10896" cy="310896"/>
          </a:xfrm>
          <a:prstGeom prst="triangle">
            <a:avLst/>
          </a:prstGeom>
          <a:ln w="19050">
            <a:solidFill>
              <a:srgbClr val="F2B3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97280" y="6035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B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RISK SPECTRUM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430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real diffs, six real scores.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11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2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engine output, verified by the test suite — not mocked.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514600"/>
          <a:ext cx="108813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10582351" y="6400800"/>
            <a:ext cx="137160" cy="137160"/>
          </a:xfrm>
          <a:prstGeom prst="ellipse">
            <a:avLst/>
          </a:prstGeom>
          <a:solidFill>
            <a:srgbClr val="3AC78A"/>
          </a:solidFill>
          <a:ln/>
        </p:spPr>
      </p:sp>
      <p:sp>
        <p:nvSpPr>
          <p:cNvPr id="8" name="Shape 5"/>
          <p:cNvSpPr/>
          <p:nvPr/>
        </p:nvSpPr>
        <p:spPr>
          <a:xfrm>
            <a:off x="10820095" y="6400800"/>
            <a:ext cx="137160" cy="137160"/>
          </a:xfrm>
          <a:prstGeom prst="ellipse">
            <a:avLst/>
          </a:prstGeom>
          <a:solidFill>
            <a:srgbClr val="E7C34B"/>
          </a:solidFill>
          <a:ln/>
        </p:spPr>
      </p:sp>
      <p:sp>
        <p:nvSpPr>
          <p:cNvPr id="9" name="Shape 6"/>
          <p:cNvSpPr/>
          <p:nvPr/>
        </p:nvSpPr>
        <p:spPr>
          <a:xfrm>
            <a:off x="11057839" y="6400800"/>
            <a:ext cx="137160" cy="137160"/>
          </a:xfrm>
          <a:prstGeom prst="ellipse">
            <a:avLst/>
          </a:prstGeom>
          <a:solidFill>
            <a:srgbClr val="F0863C"/>
          </a:solidFill>
          <a:ln/>
        </p:spPr>
      </p:sp>
      <p:sp>
        <p:nvSpPr>
          <p:cNvPr id="10" name="Shape 7"/>
          <p:cNvSpPr/>
          <p:nvPr/>
        </p:nvSpPr>
        <p:spPr>
          <a:xfrm>
            <a:off x="11295583" y="6400800"/>
            <a:ext cx="137160" cy="137160"/>
          </a:xfrm>
          <a:prstGeom prst="ellipse">
            <a:avLst/>
          </a:prstGeom>
          <a:solidFill>
            <a:srgbClr val="F0555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094415" y="63459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63459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79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PRism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10896" cy="310896"/>
          </a:xfrm>
          <a:prstGeom prst="triangle">
            <a:avLst/>
          </a:prstGeom>
          <a:ln w="19050">
            <a:solidFill>
              <a:srgbClr val="F2B3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97280" y="6035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B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IT'S ALREADY A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engine gates your CI.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05070B"/>
          </a:solidFill>
          <a:ln w="12700">
            <a:solidFill>
              <a:srgbClr val="2B35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14884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C7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500" dirty="0">
                <a:solidFill>
                  <a:srgbClr val="C2C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 origin/main... | </a:t>
            </a:r>
            <a:pPr indent="0" marL="0">
              <a:buNone/>
            </a:pPr>
            <a:r>
              <a:rPr lang="en-US" sz="1500" b="1" dirty="0">
                <a:solidFill>
                  <a:srgbClr val="E9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bin/prism.js </a:t>
            </a:r>
            <a:pPr indent="0" marL="0">
              <a:buNone/>
            </a:pPr>
            <a:r>
              <a:rPr lang="en-US" sz="1500" dirty="0">
                <a:solidFill>
                  <a:srgbClr val="F2B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--fail-on critical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383280"/>
            <a:ext cx="5212080" cy="1234440"/>
          </a:xfrm>
          <a:prstGeom prst="roundRect">
            <a:avLst>
              <a:gd name="adj" fmla="val 5185"/>
            </a:avLst>
          </a:prstGeom>
          <a:solidFill>
            <a:srgbClr val="161C28"/>
          </a:solidFill>
          <a:ln w="12700">
            <a:solidFill>
              <a:srgbClr val="2B35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639312"/>
            <a:ext cx="182880" cy="182880"/>
          </a:xfrm>
          <a:prstGeom prst="ellipse">
            <a:avLst/>
          </a:prstGeom>
          <a:solidFill>
            <a:srgbClr val="3AC78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43584" y="35661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codes are the contract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43584" y="393192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2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pass, 1 = gate tripped, 2 = usage. Zero dependencies.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3383280"/>
            <a:ext cx="5212080" cy="1234440"/>
          </a:xfrm>
          <a:prstGeom prst="roundRect">
            <a:avLst>
              <a:gd name="adj" fmla="val 5185"/>
            </a:avLst>
          </a:prstGeom>
          <a:solidFill>
            <a:srgbClr val="161C28"/>
          </a:solidFill>
          <a:ln w="12700">
            <a:solidFill>
              <a:srgbClr val="2B354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3639312"/>
            <a:ext cx="182880" cy="182880"/>
          </a:xfrm>
          <a:prstGeom prst="ellipse">
            <a:avLst/>
          </a:prstGeom>
          <a:solidFill>
            <a:srgbClr val="6C93C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21424" y="35661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SARIF 2.1.0 export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821424" y="393192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2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to GitHub code scanning as inline annotations — from a fully local run.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892040"/>
            <a:ext cx="5212080" cy="1234440"/>
          </a:xfrm>
          <a:prstGeom prst="roundRect">
            <a:avLst>
              <a:gd name="adj" fmla="val 5185"/>
            </a:avLst>
          </a:prstGeom>
          <a:solidFill>
            <a:srgbClr val="161C28"/>
          </a:solidFill>
          <a:ln w="12700">
            <a:solidFill>
              <a:srgbClr val="2B354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5148072"/>
            <a:ext cx="182880" cy="182880"/>
          </a:xfrm>
          <a:prstGeom prst="ellipse">
            <a:avLst/>
          </a:prstGeom>
          <a:solidFill>
            <a:srgbClr val="F2B3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243584" y="50749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GitHub Action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43584" y="544068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2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every PR and blocks the merge on policy. Composite, no build.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4892040"/>
            <a:ext cx="5212080" cy="1234440"/>
          </a:xfrm>
          <a:prstGeom prst="roundRect">
            <a:avLst>
              <a:gd name="adj" fmla="val 5185"/>
            </a:avLst>
          </a:prstGeom>
          <a:solidFill>
            <a:srgbClr val="161C28"/>
          </a:solidFill>
          <a:ln w="12700">
            <a:solidFill>
              <a:srgbClr val="2B354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5148072"/>
            <a:ext cx="182880" cy="182880"/>
          </a:xfrm>
          <a:prstGeom prst="ellipse">
            <a:avLst/>
          </a:prstGeom>
          <a:solidFill>
            <a:srgbClr val="F0863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21424" y="50749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with .prism.json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821424" y="544068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2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severities and a CI gate in one committed file, with a JSON Schema.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0582351" y="6400800"/>
            <a:ext cx="137160" cy="137160"/>
          </a:xfrm>
          <a:prstGeom prst="ellipse">
            <a:avLst/>
          </a:prstGeom>
          <a:solidFill>
            <a:srgbClr val="3AC78A"/>
          </a:solidFill>
          <a:ln/>
        </p:spPr>
      </p:sp>
      <p:sp>
        <p:nvSpPr>
          <p:cNvPr id="24" name="Shape 22"/>
          <p:cNvSpPr/>
          <p:nvPr/>
        </p:nvSpPr>
        <p:spPr>
          <a:xfrm>
            <a:off x="10820095" y="6400800"/>
            <a:ext cx="137160" cy="137160"/>
          </a:xfrm>
          <a:prstGeom prst="ellipse">
            <a:avLst/>
          </a:prstGeom>
          <a:solidFill>
            <a:srgbClr val="E7C34B"/>
          </a:solidFill>
          <a:ln/>
        </p:spPr>
      </p:sp>
      <p:sp>
        <p:nvSpPr>
          <p:cNvPr id="25" name="Shape 23"/>
          <p:cNvSpPr/>
          <p:nvPr/>
        </p:nvSpPr>
        <p:spPr>
          <a:xfrm>
            <a:off x="11057839" y="6400800"/>
            <a:ext cx="137160" cy="137160"/>
          </a:xfrm>
          <a:prstGeom prst="ellipse">
            <a:avLst/>
          </a:prstGeom>
          <a:solidFill>
            <a:srgbClr val="F0863C"/>
          </a:solidFill>
          <a:ln/>
        </p:spPr>
      </p:sp>
      <p:sp>
        <p:nvSpPr>
          <p:cNvPr id="26" name="Shape 24"/>
          <p:cNvSpPr/>
          <p:nvPr/>
        </p:nvSpPr>
        <p:spPr>
          <a:xfrm>
            <a:off x="11295583" y="6400800"/>
            <a:ext cx="137160" cy="137160"/>
          </a:xfrm>
          <a:prstGeom prst="ellipse">
            <a:avLst/>
          </a:prstGeom>
          <a:solidFill>
            <a:srgbClr val="F0555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1094415" y="63459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3459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79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PRism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66944" y="1737360"/>
            <a:ext cx="1645920" cy="1463040"/>
          </a:xfrm>
          <a:prstGeom prst="triangle">
            <a:avLst/>
          </a:prstGeom>
          <a:solidFill>
            <a:srgbClr val="161C28"/>
          </a:solidFill>
          <a:ln w="25400">
            <a:solidFill>
              <a:srgbClr val="F2B3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45936" y="2468880"/>
            <a:ext cx="914400" cy="914400"/>
          </a:xfrm>
          <a:prstGeom prst="line">
            <a:avLst/>
          </a:prstGeom>
          <a:noFill/>
          <a:ln w="25400">
            <a:solidFill>
              <a:srgbClr val="3AC7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45936" y="2468880"/>
            <a:ext cx="914400" cy="914400"/>
          </a:xfrm>
          <a:prstGeom prst="line">
            <a:avLst/>
          </a:prstGeom>
          <a:noFill/>
          <a:ln w="25400">
            <a:solidFill>
              <a:srgbClr val="E7C3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45936" y="2468880"/>
            <a:ext cx="914400" cy="914400"/>
          </a:xfrm>
          <a:prstGeom prst="line">
            <a:avLst/>
          </a:prstGeom>
          <a:noFill/>
          <a:ln w="25400">
            <a:solidFill>
              <a:srgbClr val="F086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45936" y="2468880"/>
            <a:ext cx="914400" cy="914400"/>
          </a:xfrm>
          <a:prstGeom prst="line">
            <a:avLst/>
          </a:prstGeom>
          <a:noFill/>
          <a:ln w="25400">
            <a:solidFill>
              <a:srgbClr val="F055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78224" y="2788920"/>
            <a:ext cx="914400" cy="91440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65760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9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it at a diff.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4572000"/>
            <a:ext cx="8531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2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signup. No upload. No waiting. Open the tool and paste a change — or tap a sample and watch the gauge sweep.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5440680"/>
            <a:ext cx="8531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code-review radar for the code you can't send to anyone.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14416" y="6126480"/>
            <a:ext cx="137160" cy="137160"/>
          </a:xfrm>
          <a:prstGeom prst="ellipse">
            <a:avLst/>
          </a:prstGeom>
          <a:solidFill>
            <a:srgbClr val="3AC78A"/>
          </a:solidFill>
          <a:ln/>
        </p:spPr>
      </p:sp>
      <p:sp>
        <p:nvSpPr>
          <p:cNvPr id="12" name="Shape 10"/>
          <p:cNvSpPr/>
          <p:nvPr/>
        </p:nvSpPr>
        <p:spPr>
          <a:xfrm>
            <a:off x="5852160" y="6126480"/>
            <a:ext cx="137160" cy="137160"/>
          </a:xfrm>
          <a:prstGeom prst="ellipse">
            <a:avLst/>
          </a:prstGeom>
          <a:solidFill>
            <a:srgbClr val="E7C34B"/>
          </a:solidFill>
          <a:ln/>
        </p:spPr>
      </p:sp>
      <p:sp>
        <p:nvSpPr>
          <p:cNvPr id="13" name="Shape 11"/>
          <p:cNvSpPr/>
          <p:nvPr/>
        </p:nvSpPr>
        <p:spPr>
          <a:xfrm>
            <a:off x="6089904" y="6126480"/>
            <a:ext cx="137160" cy="137160"/>
          </a:xfrm>
          <a:prstGeom prst="ellipse">
            <a:avLst/>
          </a:prstGeom>
          <a:solidFill>
            <a:srgbClr val="F0863C"/>
          </a:solidFill>
          <a:ln/>
        </p:spPr>
      </p:sp>
      <p:sp>
        <p:nvSpPr>
          <p:cNvPr id="14" name="Shape 12"/>
          <p:cNvSpPr/>
          <p:nvPr/>
        </p:nvSpPr>
        <p:spPr>
          <a:xfrm>
            <a:off x="6327648" y="6126480"/>
            <a:ext cx="137160" cy="137160"/>
          </a:xfrm>
          <a:prstGeom prst="ellipse">
            <a:avLst/>
          </a:prstGeom>
          <a:solidFill>
            <a:srgbClr val="F0555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PRism — pull-request risk radar</dc:title>
  <dc:subject>PptxGenJS Presentation</dc:subject>
  <dc:creator>PRism</dc:creator>
  <cp:lastModifiedBy>PRism</cp:lastModifiedBy>
  <cp:revision>1</cp:revision>
  <dcterms:created xsi:type="dcterms:W3CDTF">2026-09-19T17:23:46Z</dcterms:created>
  <dcterms:modified xsi:type="dcterms:W3CDTF">2026-09-19T17:23:46Z</dcterms:modified>
</cp:coreProperties>
</file>